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2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UiPath's 2026 challenge: bridge the gap between a prototype on a laptop and software running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Manual AS-IS is inbox ping-pong: slow, inconsistent, unauditable.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Core design: agent owns judgment; Maestro owns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LangGraph entry points. plan produces approver chain as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BPMN process with multi-instance + SLA timer +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Narrate trigger -&gt; decide -&gt; route -&gt; human -&gt; resume -&gt; audit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process, three behaviors: auto-clear, 1-tier, multi-tier.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Built with coding agents (Cursor + Claude via UiPath for Coding Agents).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Governance checklist: human gate, SLA, audit,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runs on Automation Cloud; packaged as .uipx.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ROI: deflection, speed, consistency, auditability; portable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links and close with interactive page 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Deal Desk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A4616"/>
                </a:solidFill>
                <a:latin typeface="Segoe UI"/>
              </a:rPr>
              <a:t>From laptop to production - governed.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3DD"/>
                </a:solidFill>
                <a:latin typeface="Segoe UI"/>
              </a:rPr>
              <a:t>An autonomous pricing-approval agent on UiPath Maestro BPMN.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983480"/>
            <a:ext cx="3611880" cy="621792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4983480"/>
            <a:ext cx="3611880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510235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Track 2: Maestro BPMN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983480"/>
            <a:ext cx="3611880" cy="621792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4983480"/>
            <a:ext cx="361188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510235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Built with coding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83480"/>
            <a:ext cx="3611880" cy="621792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B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4983480"/>
            <a:ext cx="3611880" cy="64008"/>
          </a:xfrm>
          <a:prstGeom prst="rect">
            <a:avLst/>
          </a:prstGeom>
          <a:solidFill>
            <a:srgbClr val="2B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510235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Runs on Automation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Pricing approvals: 100% human-touched, mostly for nothing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9D3DD"/>
                </a:solidFill>
                <a:latin typeface="Segoe UI"/>
              </a:rPr>
              <a:t>Every discount / renewal change is routed to a human - even the trivial 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9D3DD"/>
                </a:solidFill>
                <a:latin typeface="Segoe UI"/>
              </a:rPr>
              <a:t>Approval thresholds drift between managers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07792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9D3DD"/>
                </a:solidFill>
                <a:latin typeface="Segoe UI"/>
              </a:rPr>
              <a:t>No SLA and no auditable decision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617720"/>
            <a:ext cx="3749039" cy="10515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4617720"/>
            <a:ext cx="3749039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4736592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0749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inbox ping-pong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617720"/>
            <a:ext cx="3749039" cy="10515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4617720"/>
            <a:ext cx="3749039" cy="64008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2" y="4736592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Inconsistent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50749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tribal thresholds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617720"/>
            <a:ext cx="3749039" cy="10515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B79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4617720"/>
            <a:ext cx="3749039" cy="64008"/>
          </a:xfrm>
          <a:prstGeom prst="rect">
            <a:avLst/>
          </a:prstGeom>
          <a:solidFill>
            <a:srgbClr val="B79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1" y="4736592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Invisible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50749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no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03/12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An agent for judgment. Maestro for the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5577840" cy="315468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57784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221991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AGENT (LangGraph)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56032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Decides what should happen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16352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Disposition + 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Recommendation + rationale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6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Sizes approver chain as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03120"/>
            <a:ext cx="5577840" cy="315468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5577840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221991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MAESTRO BPMN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6032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Runs how it happens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16352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Cards, human gate, SLA timer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07238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Iterates agent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328416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Audit on every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04/12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The agent: Python LangGraph coded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11384280" cy="19659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1138428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13055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Entry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46888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plan: score, set disposition, draft recommendation, size approver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2491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render: generate contextual Outlook Adaptive Card per approver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980944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process_response: interpret human reply and pick next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224528"/>
            <a:ext cx="11384280" cy="1417320"/>
          </a:xfrm>
          <a:prstGeom prst="roundRect">
            <a:avLst/>
          </a:prstGeom>
          <a:solidFill>
            <a:srgbClr val="161C23"/>
          </a:solidFill>
          <a:ln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FFB020"/>
                </a:solidFill>
                <a:latin typeface="Segoe UI"/>
              </a:rPr>
              <a:t>Decision logic (from code)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3DD"/>
                </a:solidFill>
                <a:latin typeface="Segoe UI"/>
              </a:rPr>
              <a:t>risk = min(1.0, 0.5*(discount/25%) + 0.5*(value/$500k))</a:t>
            </a:r>
            <a:br/>
            <a:r>
              <a:t>auto_clear if &lt;=5% and &lt;=$50k; &gt;25% adds Director+VP; &gt;$500k adds CFO; invalid payload -&gt; exception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05/12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One Maestro BPMN process - right actor per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3DD"/>
                </a:solidFill>
                <a:latin typeface="Segoe UI"/>
              </a:rPr>
              <a:t>Start (opportunity change) -&gt; agent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14016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22576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3DD"/>
                </a:solidFill>
                <a:latin typeface="Segoe UI"/>
              </a:rPr>
              <a:t>Disposition gateway: auto_clear / exception close out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3DD"/>
                </a:solidFill>
                <a:latin typeface="Segoe UI"/>
              </a:rPr>
              <a:t>needs_approval -&gt; multi-instance subprocess over approver 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18688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27248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3DD"/>
                </a:solidFill>
                <a:latin typeface="Segoe UI"/>
              </a:rPr>
              <a:t>Boundary SLA timer -&gt; reminder + escalation; Data Fabric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06/12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The whole flow - explore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9D3DD"/>
                </a:solidFill>
                <a:latin typeface="Segoe UI"/>
              </a:rPr>
              <a:t>Salesforce + HiBob -&gt; LangGraph -&gt; Maestro BPMN -&gt; Outlook / Action Center / Azure bridge / Data Fabric</a:t>
            </a:r>
          </a:p>
        </p:txBody>
      </p:sp>
      <p:pic>
        <p:nvPicPr>
          <p:cNvPr id="11" name="Picture 10" descr="deal-desk-code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76856"/>
            <a:ext cx="102412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07/12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Three paths, one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3749039" cy="31089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B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3749039" cy="64008"/>
          </a:xfrm>
          <a:prstGeom prst="rect">
            <a:avLst/>
          </a:prstGeom>
          <a:solidFill>
            <a:srgbClr val="2B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221991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1) Auto-clear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5603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&lt;=5% / &lt;=$50k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16352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Zero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Logged +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103120"/>
            <a:ext cx="3749039" cy="31089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2103120"/>
            <a:ext cx="3749039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2221991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2) One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5603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8% / $40k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816352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One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072384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Approve -&gt; approved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103120"/>
            <a:ext cx="3749039" cy="310896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2103120"/>
            <a:ext cx="3749039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2221991"/>
            <a:ext cx="34289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3) Multi-tier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560320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30% / $1.2M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2816352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Manager -&gt; Director -&gt; VP -&gt; CFO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072384"/>
            <a:ext cx="34289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Sequential 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BONUS · UIPATH FOR CODING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08/12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Built by coding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6"/>
                </a:solidFill>
                <a:latin typeface="Segoe UI"/>
              </a:rPr>
              <a:t>Natural language -&gt; coding agents -&gt; governed cloud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86000"/>
            <a:ext cx="2834640" cy="12344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8A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2834640" cy="64008"/>
          </a:xfrm>
          <a:prstGeom prst="rect">
            <a:avLst/>
          </a:prstGeom>
          <a:solidFill>
            <a:srgbClr val="8A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404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4320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Laptop intent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286000"/>
            <a:ext cx="2834640" cy="12344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83464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2" y="2404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Cursor +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74320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uip skills + CLI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286000"/>
            <a:ext cx="2560320" cy="12344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B79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2286000"/>
            <a:ext cx="2560320" cy="64008"/>
          </a:xfrm>
          <a:prstGeom prst="rect">
            <a:avLst/>
          </a:prstGeom>
          <a:solidFill>
            <a:srgbClr val="B79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1112" y="2404872"/>
            <a:ext cx="22402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7432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Agent + BPMN + 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286000"/>
            <a:ext cx="2606040" cy="12344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B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2286000"/>
            <a:ext cx="2606040" cy="64008"/>
          </a:xfrm>
          <a:prstGeom prst="rect">
            <a:avLst/>
          </a:prstGeom>
          <a:solidFill>
            <a:srgbClr val="2B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240487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Automation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Published + deployed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40479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49039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C9D3DD"/>
                </a:solidFill>
                <a:latin typeface="Segoe UI"/>
              </a:rPr>
              <a:t>Coding agents generated/edited the LangGraph agent, BPMN, bindings, schema exports, Data Fabric 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42816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151376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C9D3DD"/>
                </a:solidFill>
                <a:latin typeface="Segoe UI"/>
              </a:rPr>
              <a:t>Low-code Maestro + pro-code agent combined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55371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C9D3DD"/>
                </a:solidFill>
                <a:latin typeface="Segoe UI"/>
              </a:rPr>
              <a:t>Embodies the laptop -&gt; production bridge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09/12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Governance &amp; 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48840"/>
            <a:ext cx="2788920" cy="30632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B79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788920" cy="64008"/>
          </a:xfrm>
          <a:prstGeom prst="rect">
            <a:avLst/>
          </a:prstGeom>
          <a:solidFill>
            <a:srgbClr val="B79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Human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Action Center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Azure bridge resumes instance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48840"/>
            <a:ext cx="2788920" cy="30632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2148840"/>
            <a:ext cx="2788920" cy="64008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Time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Boundary SLA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Reminder + 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2788920" cy="30632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B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46520" y="2148840"/>
            <a:ext cx="2788920" cy="64008"/>
          </a:xfrm>
          <a:prstGeom prst="rect">
            <a:avLst/>
          </a:prstGeom>
          <a:solidFill>
            <a:srgbClr val="2B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Data Fabric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agent rec vs human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2148840"/>
            <a:ext cx="2697480" cy="306324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64040" y="2148840"/>
            <a:ext cx="2697480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28632" y="226771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26060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Invalid payload -&gt; exception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862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Empty chain -&gt; manager fallback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10/12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Runs on Automation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C9D3DD"/>
                </a:solidFill>
                <a:latin typeface="Segoe UI"/>
              </a:rPr>
              <a:t>Coded agent published to tenant feed; 3 entry points deployed as runnable processes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14016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22576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C9D3DD"/>
                </a:solidFill>
                <a:latin typeface="Segoe UI"/>
              </a:rPr>
              <a:t>BPMN validated; live Outlook connection bound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C9D3DD"/>
                </a:solidFill>
                <a:latin typeface="Segoe UI"/>
              </a:rPr>
              <a:t>Full solution packaged as deployable .uipx (agent + BPMN + Data Fabric ApprovalAudit)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18688"/>
            <a:ext cx="73152" cy="7315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27248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C9D3DD"/>
                </a:solidFill>
                <a:latin typeface="Segoe UI"/>
              </a:rPr>
              <a:t>Unit tests passing across disposition, auto-clear, multi-tier, schema, guardrails, 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1">
                <a:solidFill>
                  <a:srgbClr val="FA4616"/>
                </a:solidFill>
                <a:latin typeface="Segoe UI"/>
              </a:rPr>
              <a:t>UiPath is the orchestration + governance layer that ties it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11/12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Business impact &amp;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48840"/>
            <a:ext cx="2788920" cy="301752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B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788920" cy="64008"/>
          </a:xfrm>
          <a:prstGeom prst="rect">
            <a:avLst/>
          </a:prstGeom>
          <a:solidFill>
            <a:srgbClr val="2B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Deflection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Low-risk deals clear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with zero human touch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48840"/>
            <a:ext cx="2788920" cy="301752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2148840"/>
            <a:ext cx="278892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Speed + 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SLA + routing replace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inbox ping-pong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2788920" cy="301752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B79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46520" y="2148840"/>
            <a:ext cx="2788920" cy="64008"/>
          </a:xfrm>
          <a:prstGeom prst="rect">
            <a:avLst/>
          </a:prstGeom>
          <a:solidFill>
            <a:srgbClr val="B79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267712"/>
            <a:ext cx="24688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Every decision logged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8620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for compliance + tuning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2148840"/>
            <a:ext cx="2697480" cy="301752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FA4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64040" y="2148840"/>
            <a:ext cx="2697480" cy="64008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28632" y="226771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Portable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26060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Invoice / expense /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862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same pattern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01168"/>
            <a:ext cx="118872" cy="11887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UiPath AgentHack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FA4616"/>
                </a:solidFill>
                <a:latin typeface="Segoe UI"/>
              </a:rPr>
              <a:t>TRACK 2 · UIPATH MAESTRO BPMN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36576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Segoe UI"/>
              </a:rPr>
              <a:t>Deal Desk Agent - from laptop to production, governed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6327648"/>
            <a:ext cx="868680" cy="292608"/>
          </a:xfrm>
          <a:prstGeom prst="round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1161C"/>
                </a:solidFill>
                <a:latin typeface="Segoe UI"/>
              </a:rPr>
              <a:t>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9326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Segoe UI"/>
              </a:rPr>
              <a:t>Decide. Draft. Route.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A4616"/>
                </a:solidFill>
                <a:latin typeface="Segoe UI"/>
              </a:rPr>
              <a:t>Autonomously - and shipped to 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C9D3DD"/>
                </a:solidFill>
                <a:latin typeface="Segoe UI"/>
              </a:rPr>
              <a:t>Agent owns judgment · Maestro owns lifecycle · UiPath owns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57600"/>
            <a:ext cx="3703320" cy="109728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370332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776472"/>
            <a:ext cx="33832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DevPost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114800"/>
            <a:ext cx="3383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&lt;link&gt;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657600"/>
            <a:ext cx="3703320" cy="109728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3657600"/>
            <a:ext cx="370332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3776472"/>
            <a:ext cx="33832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Demo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114800"/>
            <a:ext cx="3383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&lt;link&gt;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703320" cy="1097280"/>
          </a:xfrm>
          <a:prstGeom prst="roundRect">
            <a:avLst/>
          </a:prstGeom>
          <a:solidFill>
            <a:srgbClr val="1C232B"/>
          </a:solidFill>
          <a:ln w="17780">
            <a:solidFill>
              <a:srgbClr val="2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3657600"/>
            <a:ext cx="3703320" cy="64008"/>
          </a:xfrm>
          <a:prstGeom prst="rect">
            <a:avLst/>
          </a:prstGeom>
          <a:solidFill>
            <a:srgbClr val="2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3776472"/>
            <a:ext cx="33832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Segoe UI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114800"/>
            <a:ext cx="3383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C9D3DD"/>
                </a:solidFill>
                <a:latin typeface="Segoe UI"/>
              </a:rPr>
              <a:t>&lt;link&gt;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986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Daniela Rosenstein</cp:lastModifiedBy>
  <cp:revision>2</cp:revision>
  <dcterms:created xsi:type="dcterms:W3CDTF">2013-01-27T09:14:16Z</dcterms:created>
  <dcterms:modified xsi:type="dcterms:W3CDTF">2026-06-06T11:58:20Z</dcterms:modified>
  <cp:category/>
</cp:coreProperties>
</file>